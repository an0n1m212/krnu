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Cormorant Bold"/>
      <p:regular r:id="rId201314"/>
    </p:embeddedFont>
    <p:embeddedFont>
      <p:font typeface="Cormorant Garamond Medium"/>
      <p:regular r:id="rId201315"/>
    </p:embeddedFont>
    <p:embeddedFont>
      <p:font typeface="Cormorant Garamond SemiBold"/>
      <p:regular r:id="rId201316"/>
    </p:embeddedFont>
    <p:embeddedFont>
      <p:font typeface="Cormorant Garamond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7E8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99"/>
          </a:xfrm>
          <a:prstGeom prst="rect">
            <a:avLst/>
          </a:prstGeom>
          <a:solidFill>
            <a:srgbClr val="BFAE95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99"/>
          </a:xfrm>
          <a:prstGeom prst="rect">
            <a:avLst/>
          </a:prstGeom>
          <a:solidFill>
            <a:srgbClr val="FCF7E8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9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4792" y="304800"/>
            <a:ext cx="11582110" cy="6248499"/>
          </a:xfrm>
          <a:prstGeom prst="rect">
            <a:avLst/>
          </a:prstGeom>
          <a:noFill/>
          <a:ln w="6350">
            <a:solidFill>
              <a:srgbClr val="1C1410">
                <a:alpha val="4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7E8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99"/>
          </a:xfrm>
          <a:prstGeom prst="rect">
            <a:avLst/>
          </a:prstGeom>
          <a:solidFill>
            <a:srgbClr val="BFAE95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99"/>
          </a:xfrm>
          <a:prstGeom prst="rect">
            <a:avLst/>
          </a:prstGeom>
          <a:solidFill>
            <a:srgbClr val="FCF7E8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04792" y="304800"/>
            <a:ext cx="11582110" cy="6248499"/>
          </a:xfrm>
          <a:prstGeom prst="rect">
            <a:avLst/>
          </a:prstGeom>
          <a:noFill/>
          <a:ln w="6350">
            <a:solidFill>
              <a:srgbClr val="1C1410">
                <a:alpha val="4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36582" y="1219200"/>
            <a:ext cx="5206870" cy="4419699"/>
          </a:xfrm>
          <a:prstGeom prst="rect">
            <a:avLst/>
          </a:prstGeom>
          <a:solidFill>
            <a:srgbClr val="FCF7E8"/>
          </a:solidFill>
          <a:ln w="12700">
            <a:solidFill>
              <a:srgbClr val="B08440"/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838179" y="1320800"/>
            <a:ext cx="5003675" cy="4216499"/>
          </a:xfrm>
          <a:prstGeom prst="roundRect">
            <a:avLst>
              <a:gd name="adj" fmla="val 325"/>
            </a:avLst>
          </a:prstGeom>
          <a:noFill/>
          <a:ln w="25399">
            <a:solidFill>
              <a:srgbClr val="D7D0BB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262428" y="2171005"/>
            <a:ext cx="4155078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spc="131" kern="0" dirty="0">
                <a:solidFill>
                  <a:srgbClr val="1C1410"/>
                </a:solidFill>
                <a:latin typeface="Cormorant Garamond Bold" pitchFamily="34" charset="0"/>
                <a:ea typeface="Cormorant Garamond Bold" pitchFamily="34" charset="-122"/>
                <a:cs typeface="Cormorant Garamond Bold" pitchFamily="34" charset="-120"/>
              </a:rPr>
              <a:t>ВИТОКИ ЄВРОПЕЙСЬКОЇ ДУМКИ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201311" y="2376488"/>
            <a:ext cx="2277410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3800" b="1" spc="-23" kern="0" dirty="0">
                <a:solidFill>
                  <a:srgbClr val="00000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Філософія</a:t>
            </a:r>
            <a:endParaRPr lang="en-US" sz="3800" dirty="0"/>
          </a:p>
          <a:p>
            <a:pPr algn="ctr" indent="0" marL="0">
              <a:lnSpc>
                <a:spcPct val="87000"/>
              </a:lnSpc>
              <a:buNone/>
            </a:pPr>
            <a:r>
              <a:rPr lang="en-US" sz="3800" b="1" spc="-23" kern="0" dirty="0">
                <a:solidFill>
                  <a:srgbClr val="00000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Античності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2803455" y="3712964"/>
            <a:ext cx="1073123" cy="31552"/>
          </a:xfrm>
          <a:prstGeom prst="roundRect">
            <a:avLst>
              <a:gd name="adj" fmla="val 49998"/>
            </a:avLst>
          </a:prstGeom>
          <a:solidFill>
            <a:srgbClr val="B0844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751465" y="3987502"/>
            <a:ext cx="3176806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Від космосу до людини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659294" y="4458395"/>
            <a:ext cx="13613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spc="576" kern="0" dirty="0">
                <a:solidFill>
                  <a:srgbClr val="74282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◇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5975" y="1016000"/>
            <a:ext cx="11037711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spc="-23" kern="0" dirty="0">
                <a:solidFill>
                  <a:srgbClr val="1C141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Думка проходить шлях від космосу до людини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1015975" y="1730573"/>
            <a:ext cx="1117572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Антична філософія заклала корені західної інтелектуальної традиції.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015975" y="4057948"/>
            <a:ext cx="10159746" cy="28575"/>
          </a:xfrm>
          <a:prstGeom prst="roundRect">
            <a:avLst>
              <a:gd name="adj" fmla="val 47999"/>
            </a:avLst>
          </a:prstGeom>
          <a:solidFill>
            <a:srgbClr val="B08440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2952676" y="3410248"/>
            <a:ext cx="28574" cy="647700"/>
          </a:xfrm>
          <a:prstGeom prst="roundRect">
            <a:avLst>
              <a:gd name="adj" fmla="val 48000"/>
            </a:avLst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886003" y="3977084"/>
            <a:ext cx="161921" cy="161925"/>
          </a:xfrm>
          <a:prstGeom prst="ellipse">
            <a:avLst/>
          </a:prstGeom>
          <a:solidFill>
            <a:srgbClr val="B08440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15975" y="2227560"/>
            <a:ext cx="3901977" cy="1182688"/>
          </a:xfrm>
          <a:prstGeom prst="roundRect">
            <a:avLst>
              <a:gd name="adj" fmla="val 1160"/>
            </a:avLst>
          </a:prstGeom>
          <a:solidFill>
            <a:srgbClr val="FCF7E8"/>
          </a:solidFill>
          <a:ln w="12700">
            <a:solidFill>
              <a:srgbClr val="B0844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44569" y="2456160"/>
            <a:ext cx="3444789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spc="-12" kern="0" dirty="0">
                <a:solidFill>
                  <a:srgbClr val="74282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VIII–VI ст. до н.е.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39776" y="2875260"/>
            <a:ext cx="4054374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Міф → логос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038599" y="4057948"/>
            <a:ext cx="28574" cy="647700"/>
          </a:xfrm>
          <a:prstGeom prst="roundRect">
            <a:avLst>
              <a:gd name="adj" fmla="val 48000"/>
            </a:avLst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971926" y="3977084"/>
            <a:ext cx="161921" cy="161925"/>
          </a:xfrm>
          <a:prstGeom prst="ellipse">
            <a:avLst/>
          </a:prstGeom>
          <a:solidFill>
            <a:srgbClr val="B08440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101897" y="4705648"/>
            <a:ext cx="3901977" cy="1182688"/>
          </a:xfrm>
          <a:prstGeom prst="roundRect">
            <a:avLst>
              <a:gd name="adj" fmla="val 1160"/>
            </a:avLst>
          </a:prstGeom>
          <a:solidFill>
            <a:srgbClr val="FCF7E8"/>
          </a:solidFill>
          <a:ln w="12700">
            <a:solidFill>
              <a:srgbClr val="B0844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330492" y="4934248"/>
            <a:ext cx="3444789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spc="-12" kern="0" dirty="0">
                <a:solidFill>
                  <a:srgbClr val="1C141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V ст. до н.е.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025699" y="5353348"/>
            <a:ext cx="4054374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Сократичний поворот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124522" y="3410248"/>
            <a:ext cx="28574" cy="647700"/>
          </a:xfrm>
          <a:prstGeom prst="roundRect">
            <a:avLst>
              <a:gd name="adj" fmla="val 48000"/>
            </a:avLst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057848" y="3977084"/>
            <a:ext cx="161921" cy="161925"/>
          </a:xfrm>
          <a:prstGeom prst="ellipse">
            <a:avLst/>
          </a:prstGeom>
          <a:solidFill>
            <a:srgbClr val="B08440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5187820" y="2227560"/>
            <a:ext cx="3901977" cy="1182688"/>
          </a:xfrm>
          <a:prstGeom prst="roundRect">
            <a:avLst>
              <a:gd name="adj" fmla="val 1160"/>
            </a:avLst>
          </a:prstGeom>
          <a:solidFill>
            <a:srgbClr val="FCF7E8"/>
          </a:solidFill>
          <a:ln w="12700">
            <a:solidFill>
              <a:srgbClr val="B08440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416414" y="2456160"/>
            <a:ext cx="3444789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spc="-12" kern="0" dirty="0">
                <a:solidFill>
                  <a:srgbClr val="1C141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IV ст. до н.е.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111622" y="2875260"/>
            <a:ext cx="4054374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Системи Платона й Арістотеля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9210445" y="4057948"/>
            <a:ext cx="28574" cy="647700"/>
          </a:xfrm>
          <a:prstGeom prst="roundRect">
            <a:avLst>
              <a:gd name="adj" fmla="val 48000"/>
            </a:avLst>
          </a:prstGeom>
          <a:solidFill>
            <a:srgbClr val="191919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9143771" y="3977084"/>
            <a:ext cx="161921" cy="161925"/>
          </a:xfrm>
          <a:prstGeom prst="ellipse">
            <a:avLst/>
          </a:prstGeom>
          <a:solidFill>
            <a:srgbClr val="B08440"/>
          </a:solidFill>
          <a:ln/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7273743" y="4705648"/>
            <a:ext cx="3901977" cy="1182688"/>
          </a:xfrm>
          <a:prstGeom prst="roundRect">
            <a:avLst>
              <a:gd name="adj" fmla="val 1160"/>
            </a:avLst>
          </a:prstGeom>
          <a:solidFill>
            <a:srgbClr val="FCF7E8"/>
          </a:solidFill>
          <a:ln w="12700">
            <a:solidFill>
              <a:srgbClr val="B08440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485173" y="4934248"/>
            <a:ext cx="3479118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spc="-12" kern="0" dirty="0">
                <a:solidFill>
                  <a:srgbClr val="1C141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III ст. до н.е. — VI ст. н.е.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7197545" y="5353348"/>
            <a:ext cx="4054374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Школи життя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5975" y="1701502"/>
            <a:ext cx="11175720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spc="131" kern="0" dirty="0">
                <a:solidFill>
                  <a:srgbClr val="1C1410"/>
                </a:solidFill>
                <a:latin typeface="Cormorant Garamond Bold" pitchFamily="34" charset="0"/>
                <a:ea typeface="Cormorant Garamond Bold" pitchFamily="34" charset="-122"/>
                <a:cs typeface="Cormorant Garamond Bold" pitchFamily="34" charset="-120"/>
              </a:rPr>
              <a:t>ДОСОКРАТИКИ · ПРИРОДА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1015975" y="1974552"/>
            <a:ext cx="10102597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spc="-23" kern="0" dirty="0">
                <a:solidFill>
                  <a:srgbClr val="1C141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Першопочаток пояснює порядок природи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015975" y="2689225"/>
            <a:ext cx="1117572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Питання: з чого виникає все?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15975" y="3681214"/>
            <a:ext cx="3100707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Фалес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15975" y="4123134"/>
            <a:ext cx="3938886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Вода як начало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631019" y="3681214"/>
            <a:ext cx="2872113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Анаксімандр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631019" y="4123134"/>
            <a:ext cx="3710292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Апейрон — безмежне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017667" y="3681214"/>
            <a:ext cx="3100806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Анаксімен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17667" y="4123134"/>
            <a:ext cx="3710391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Повітря та згущення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15975" y="4672509"/>
            <a:ext cx="10159746" cy="31552"/>
          </a:xfrm>
          <a:prstGeom prst="roundRect">
            <a:avLst>
              <a:gd name="adj" fmla="val 49998"/>
            </a:avLst>
          </a:prstGeom>
          <a:solidFill>
            <a:srgbClr val="B08440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15975" y="4947146"/>
            <a:ext cx="1117572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spc="19" kern="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Міф поступається поясненню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96074" y="3681214"/>
            <a:ext cx="12700" cy="748407"/>
          </a:xfrm>
          <a:prstGeom prst="rect">
            <a:avLst/>
          </a:prstGeom>
          <a:solidFill>
            <a:srgbClr val="B08440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782722" y="3681214"/>
            <a:ext cx="12700" cy="748407"/>
          </a:xfrm>
          <a:prstGeom prst="rect">
            <a:avLst/>
          </a:prstGeom>
          <a:solidFill>
            <a:srgbClr val="B08440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5975" y="1794173"/>
            <a:ext cx="11175720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spc="131" kern="0" dirty="0">
                <a:solidFill>
                  <a:srgbClr val="1C1410"/>
                </a:solidFill>
                <a:latin typeface="Cormorant Garamond Bold" pitchFamily="34" charset="0"/>
                <a:ea typeface="Cormorant Garamond Bold" pitchFamily="34" charset="-122"/>
                <a:cs typeface="Cormorant Garamond Bold" pitchFamily="34" charset="-120"/>
              </a:rPr>
              <a:t>ПІФАГОРЕЙЦІ · ГЕРАКЛІТ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1015975" y="2067223"/>
            <a:ext cx="10102597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spc="-23" kern="0" dirty="0">
                <a:solidFill>
                  <a:srgbClr val="1C141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Світ має ритм: число й становлення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015975" y="2781796"/>
            <a:ext cx="1117572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Міра не скасовує зміну.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75" y="3278882"/>
            <a:ext cx="539736" cy="539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5975" y="4009132"/>
            <a:ext cx="3024509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Гармонія чисел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015975" y="4427339"/>
            <a:ext cx="3024509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Піфагореїзм бачить космос як впорядковане ціле.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820" y="3278882"/>
            <a:ext cx="539736" cy="539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54820" y="4009132"/>
            <a:ext cx="3024509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Космос як порядок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4554820" y="4427339"/>
            <a:ext cx="3024509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Число відкриває міру взаємозв’язків.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865" y="3278882"/>
            <a:ext cx="539736" cy="539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93865" y="4009132"/>
            <a:ext cx="3024608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Вічний рух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8093865" y="4427339"/>
            <a:ext cx="3024608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Геракліт: «Все тече» — світ як процес.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5975" y="1016000"/>
            <a:ext cx="11175720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spc="131" kern="0" dirty="0">
                <a:solidFill>
                  <a:srgbClr val="1C1410"/>
                </a:solidFill>
                <a:latin typeface="Cormorant Garamond Bold" pitchFamily="34" charset="0"/>
                <a:ea typeface="Cormorant Garamond Bold" pitchFamily="34" charset="-122"/>
                <a:cs typeface="Cormorant Garamond Bold" pitchFamily="34" charset="-120"/>
              </a:rPr>
              <a:t>ЕЛЕЙСЬКА ШКОЛА · ОНТОЛОГІЯ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1015975" y="1289050"/>
            <a:ext cx="10102597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spc="-23" kern="0" dirty="0">
                <a:solidFill>
                  <a:srgbClr val="1C141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Парменід ставить буття проти небуття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1015975" y="1968698"/>
            <a:ext cx="4851279" cy="1884759"/>
          </a:xfrm>
          <a:prstGeom prst="roundRect">
            <a:avLst>
              <a:gd name="adj" fmla="val 728"/>
            </a:avLst>
          </a:prstGeom>
          <a:noFill/>
          <a:ln w="25399">
            <a:solidFill>
              <a:srgbClr val="D7D0BB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346166" y="2273498"/>
            <a:ext cx="4133747" cy="42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b="1" spc="-19" kern="0" dirty="0">
                <a:solidFill>
                  <a:srgbClr val="74282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Буття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346166" y="2908796"/>
            <a:ext cx="5073523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Те, що є.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46166" y="3339207"/>
            <a:ext cx="507352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spc="19" kern="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Логіка тримає незмінне.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4442" y="1968698"/>
            <a:ext cx="4851279" cy="1884759"/>
          </a:xfrm>
          <a:prstGeom prst="roundRect">
            <a:avLst>
              <a:gd name="adj" fmla="val 728"/>
            </a:avLst>
          </a:prstGeom>
          <a:noFill/>
          <a:ln w="25399">
            <a:solidFill>
              <a:srgbClr val="D7D0B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54634" y="2273498"/>
            <a:ext cx="4133747" cy="42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b="1" spc="-19" kern="0" dirty="0">
                <a:solidFill>
                  <a:srgbClr val="1C141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Небуття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654634" y="2908796"/>
            <a:ext cx="5073523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Неможливо помислити.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654634" y="3339207"/>
            <a:ext cx="507352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spc="19" kern="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Заперечення не стає предметом думки.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15975" y="4005957"/>
            <a:ext cx="1117572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Чуття змінюються; логіка тримає. Істина потребує аргументу.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2" y="304800"/>
            <a:ext cx="4632804" cy="6248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96383" y="1822946"/>
            <a:ext cx="6695312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spc="131" kern="0" dirty="0">
                <a:solidFill>
                  <a:srgbClr val="1C1410"/>
                </a:solidFill>
                <a:latin typeface="Cormorant Garamond Bold" pitchFamily="34" charset="0"/>
                <a:ea typeface="Cormorant Garamond Bold" pitchFamily="34" charset="-122"/>
                <a:cs typeface="Cormorant Garamond Bold" pitchFamily="34" charset="-120"/>
              </a:rPr>
              <a:t>СОКРАТИЧНИЙ ПОВОРОТ</a:t>
            </a:r>
            <a:endParaRPr lang="en-US" sz="1250" dirty="0"/>
          </a:p>
        </p:txBody>
      </p:sp>
      <p:sp>
        <p:nvSpPr>
          <p:cNvPr id="5" name="Text 1"/>
          <p:cNvSpPr/>
          <p:nvPr/>
        </p:nvSpPr>
        <p:spPr>
          <a:xfrm>
            <a:off x="5496383" y="2028428"/>
            <a:ext cx="579988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spc="-23" kern="0" dirty="0">
                <a:solidFill>
                  <a:srgbClr val="1C141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Сократ повертає філософію до людини</a:t>
            </a:r>
            <a:endParaRPr lang="en-US" sz="3800" dirty="0"/>
          </a:p>
        </p:txBody>
      </p:sp>
      <p:sp>
        <p:nvSpPr>
          <p:cNvPr id="6" name="Shape 2"/>
          <p:cNvSpPr/>
          <p:nvPr/>
        </p:nvSpPr>
        <p:spPr>
          <a:xfrm>
            <a:off x="5496383" y="3364805"/>
            <a:ext cx="1464134" cy="31552"/>
          </a:xfrm>
          <a:prstGeom prst="roundRect">
            <a:avLst>
              <a:gd name="adj" fmla="val 49998"/>
            </a:avLst>
          </a:prstGeom>
          <a:solidFill>
            <a:srgbClr val="B08440"/>
          </a:solidFill>
          <a:ln/>
        </p:spPr>
        <p:txBody>
          <a:bodyPr/>
          <a:p/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383" y="3555702"/>
            <a:ext cx="431789" cy="431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44067" y="3591223"/>
            <a:ext cx="2231969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«Пізнай самого себе»</a:t>
            </a:r>
            <a:endParaRPr lang="en-US" sz="20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1147" y="3555702"/>
            <a:ext cx="431789" cy="4318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148831" y="3591223"/>
            <a:ext cx="2147437" cy="579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Майевтика — мистецтво запитань</a:t>
            </a:r>
            <a:endParaRPr lang="en-US" sz="20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6383" y="4287044"/>
            <a:ext cx="431789" cy="4318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144067" y="4370884"/>
            <a:ext cx="5152202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Знання веде до доброчесності</a:t>
            </a:r>
            <a:endParaRPr lang="en-US" sz="2000" dirty="0"/>
          </a:p>
        </p:txBody>
      </p:sp>
      <p:sp>
        <p:nvSpPr>
          <p:cNvPr id="13" name="Text 6"/>
          <p:cNvSpPr/>
          <p:nvPr/>
        </p:nvSpPr>
        <p:spPr>
          <a:xfrm>
            <a:off x="5496383" y="4851003"/>
            <a:ext cx="669531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spc="19" kern="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Етика починається з діалогу. Не відповідь, а перевірка себе.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2" y="304800"/>
            <a:ext cx="4632804" cy="6248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70983" y="1706166"/>
            <a:ext cx="6720712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spc="131" kern="0" dirty="0">
                <a:solidFill>
                  <a:srgbClr val="1C1410"/>
                </a:solidFill>
                <a:latin typeface="Cormorant Garamond Bold" pitchFamily="34" charset="0"/>
                <a:ea typeface="Cormorant Garamond Bold" pitchFamily="34" charset="-122"/>
                <a:cs typeface="Cormorant Garamond Bold" pitchFamily="34" charset="-120"/>
              </a:rPr>
              <a:t>ПЛАТОН · ТЕОРІЯ ПІЗНАННЯ</a:t>
            </a:r>
            <a:endParaRPr lang="en-US" sz="1250" dirty="0"/>
          </a:p>
        </p:txBody>
      </p:sp>
      <p:sp>
        <p:nvSpPr>
          <p:cNvPr id="5" name="Text 1"/>
          <p:cNvSpPr/>
          <p:nvPr/>
        </p:nvSpPr>
        <p:spPr>
          <a:xfrm>
            <a:off x="5470983" y="1911648"/>
            <a:ext cx="582528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spc="-23" kern="0" dirty="0">
                <a:solidFill>
                  <a:srgbClr val="1C141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Платон розділяє тіні та ейдоси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470983" y="3195638"/>
            <a:ext cx="6720712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Від образу — до ідеї.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70983" y="3680023"/>
          <a:ext cx="9143771" cy="914400"/>
        </p:xfrm>
        <a:graphic>
          <a:graphicData uri="http://schemas.openxmlformats.org/drawingml/2006/table">
            <a:tbl>
              <a:tblPr/>
              <a:tblGrid>
                <a:gridCol w="2000027"/>
                <a:gridCol w="3882406"/>
              </a:tblGrid>
              <a:tr h="4969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spc="131" kern="0" dirty="0">
                          <a:solidFill>
                            <a:srgbClr val="1C1410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ЧУТТЄВЕ</a:t>
                      </a:r>
                      <a:endParaRPr lang="en-US" sz="125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 marL="126997" marR="126997" marT="112647" marB="112647" anchor="ctr">
                    <a:lnL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C1410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Мінливий світ тіней.</a:t>
                      </a:r>
                      <a:endParaRPr lang="en-US" sz="17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 marL="126997" marR="126997" marT="112647" marB="112647" anchor="ctr">
                    <a:lnL w="12700" cap="flat" cmpd="sng" algn="ctr">
                      <a:solidFill>
                        <a:srgbClr val="FCF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9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spc="131" kern="0" dirty="0">
                          <a:solidFill>
                            <a:srgbClr val="1C1410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ЕЙДОСИ</a:t>
                      </a:r>
                      <a:endParaRPr lang="en-US" sz="125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 marL="126997" marR="126997" marT="112647" marB="112647" anchor="ctr">
                    <a:lnL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742820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Сталі форми</a:t>
                      </a:r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C1410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, доступні мисленню.</a:t>
                      </a:r>
                      <a:endParaRPr lang="en-US" sz="17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 marL="126997" marR="126997" marT="112647" marB="112647" anchor="ctr">
                    <a:lnL w="12700" cap="flat" cmpd="sng" algn="ctr">
                      <a:solidFill>
                        <a:srgbClr val="FCF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2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spc="131" kern="0" dirty="0">
                          <a:solidFill>
                            <a:srgbClr val="1C1410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ПЕЧЕРА</a:t>
                      </a:r>
                      <a:endParaRPr lang="en-US" sz="125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 marL="126997" marR="126997" marT="112647" marB="112647" anchor="ctr">
                    <a:lnL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C1410"/>
                          </a:solidFill>
                          <a:latin typeface="Cormorant Garamond" pitchFamily="34" charset="0"/>
                          <a:ea typeface="Cormorant Garamond" pitchFamily="34" charset="-122"/>
                          <a:cs typeface="Cormorant Garamond" pitchFamily="34" charset="-120"/>
                        </a:rPr>
                        <a:t>Шлях до світла й поворот душі.</a:t>
                      </a:r>
                      <a:endParaRPr lang="en-US" sz="1700" dirty="0">
                        <a:latin typeface="Cormorant Garamond" charset="0"/>
                        <a:ea typeface="Cormorant Garamond" charset="0"/>
                        <a:cs typeface="Cormorant Garamond" charset="0"/>
                      </a:endParaRPr>
                    </a:p>
                  </a:txBody>
                  <a:tcPr marL="126997" marR="126997" marT="112647" marB="112647" anchor="ctr">
                    <a:lnL w="12700" cap="flat" cmpd="sng" algn="ctr">
                      <a:solidFill>
                        <a:srgbClr val="FCF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8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3578" y="1642864"/>
            <a:ext cx="7328808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spc="131" kern="0" dirty="0">
                <a:solidFill>
                  <a:srgbClr val="1C1410"/>
                </a:solidFill>
                <a:latin typeface="Cormorant Garamond Bold" pitchFamily="34" charset="0"/>
                <a:ea typeface="Cormorant Garamond Bold" pitchFamily="34" charset="-122"/>
                <a:cs typeface="Cormorant Garamond Bold" pitchFamily="34" charset="-120"/>
              </a:rPr>
              <a:t>АРІСТОТЕЛЬ · СИСТЕМАТИЗАЦІЯ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63578" y="1848346"/>
            <a:ext cx="6287434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spc="-23" kern="0" dirty="0">
                <a:solidFill>
                  <a:srgbClr val="1C141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Арістотель перетворює знання на систему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63578" y="3132435"/>
            <a:ext cx="7328808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Філософія охоплює природу, суспільство й мистецтво.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3578" y="3615432"/>
            <a:ext cx="13376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spc="3" kern="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55086" y="3591223"/>
            <a:ext cx="2647487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Логіка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55086" y="4033242"/>
            <a:ext cx="3257072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Інструмент мислення.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112117" y="3615432"/>
            <a:ext cx="135271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spc="3" kern="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18606" y="3591223"/>
            <a:ext cx="2632307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Форма й матерія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518606" y="4033242"/>
            <a:ext cx="3241892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Разом пояснюють річ.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3578" y="4516239"/>
            <a:ext cx="135043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spc="3" kern="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267885" y="4492030"/>
            <a:ext cx="2634490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Золота середина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267885" y="4934049"/>
            <a:ext cx="3244074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Міра чесноти.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112117" y="4516239"/>
            <a:ext cx="13639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spc="3" kern="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529917" y="4492030"/>
            <a:ext cx="2621195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Спостерігати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529917" y="4934049"/>
            <a:ext cx="3821513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Класифікувати й пояснювати.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639950" y="304800"/>
            <a:ext cx="4246754" cy="6248499"/>
          </a:xfrm>
          <a:prstGeom prst="rect">
            <a:avLst/>
          </a:prstGeom>
          <a:solidFill>
            <a:srgbClr val="F4EDE0"/>
          </a:solidFill>
          <a:ln/>
        </p:spPr>
        <p:txBody>
          <a:bodyPr/>
          <a:p/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773" y="1441450"/>
            <a:ext cx="3364324" cy="4106366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633600" y="304800"/>
            <a:ext cx="12700" cy="6248499"/>
          </a:xfrm>
          <a:prstGeom prst="rect">
            <a:avLst/>
          </a:prstGeom>
          <a:solidFill>
            <a:srgbClr val="B08440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5975" y="1016000"/>
            <a:ext cx="11175720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spc="131" kern="0" dirty="0">
                <a:solidFill>
                  <a:srgbClr val="1C1410"/>
                </a:solidFill>
                <a:latin typeface="Cormorant Garamond Bold" pitchFamily="34" charset="0"/>
                <a:ea typeface="Cormorant Garamond Bold" pitchFamily="34" charset="-122"/>
                <a:cs typeface="Cormorant Garamond Bold" pitchFamily="34" charset="-120"/>
              </a:rPr>
              <a:t>ЕЛЛІНІСТИЧНА ЕТИКА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1015975" y="1289050"/>
            <a:ext cx="11118572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spc="-23" kern="0" dirty="0">
                <a:solidFill>
                  <a:srgbClr val="1C141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Після поліса філософія стає практикою життя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015975" y="2003623"/>
            <a:ext cx="1117572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Елліністична етика відповідає на тривогу часу.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015975" y="2487910"/>
            <a:ext cx="2311342" cy="1927324"/>
          </a:xfrm>
          <a:prstGeom prst="roundRect">
            <a:avLst>
              <a:gd name="adj" fmla="val 712"/>
            </a:avLst>
          </a:prstGeom>
          <a:noFill/>
          <a:ln w="25399">
            <a:solidFill>
              <a:srgbClr val="D7D0BB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269968" y="2741910"/>
            <a:ext cx="1746206" cy="34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Зміни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69968" y="3217962"/>
            <a:ext cx="1834707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Епоха змін — пошук опори.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632109" y="2487910"/>
            <a:ext cx="2311342" cy="1927324"/>
          </a:xfrm>
          <a:prstGeom prst="roundRect">
            <a:avLst>
              <a:gd name="adj" fmla="val 712"/>
            </a:avLst>
          </a:prstGeom>
          <a:noFill/>
          <a:ln w="25399">
            <a:solidFill>
              <a:srgbClr val="D7D0B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86103" y="2741910"/>
            <a:ext cx="1746206" cy="34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Рівновага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886103" y="3217962"/>
            <a:ext cx="1841950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Щастя як внутрішня рівновага.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48244" y="2487910"/>
            <a:ext cx="2311342" cy="1927324"/>
          </a:xfrm>
          <a:prstGeom prst="roundRect">
            <a:avLst>
              <a:gd name="adj" fmla="val 712"/>
            </a:avLst>
          </a:prstGeom>
          <a:noFill/>
          <a:ln w="25399">
            <a:solidFill>
              <a:srgbClr val="D7D0B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502237" y="2741910"/>
            <a:ext cx="1746206" cy="34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Школи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502237" y="3217962"/>
            <a:ext cx="174620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Спосіб життя, а не доктрина.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864378" y="2487910"/>
            <a:ext cx="2311342" cy="1927324"/>
          </a:xfrm>
          <a:prstGeom prst="roundRect">
            <a:avLst>
              <a:gd name="adj" fmla="val 712"/>
            </a:avLst>
          </a:prstGeom>
          <a:noFill/>
          <a:ln w="25399">
            <a:solidFill>
              <a:srgbClr val="D7D0B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118372" y="2741910"/>
            <a:ext cx="1746206" cy="34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Спокій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118372" y="3217962"/>
            <a:ext cx="174620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Важливіший за статус.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3578" y="1589187"/>
            <a:ext cx="8101107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spc="131" kern="0" dirty="0">
                <a:solidFill>
                  <a:srgbClr val="1C1410"/>
                </a:solidFill>
                <a:latin typeface="Cormorant Garamond Bold" pitchFamily="34" charset="0"/>
                <a:ea typeface="Cormorant Garamond Bold" pitchFamily="34" charset="-122"/>
                <a:cs typeface="Cormorant Garamond Bold" pitchFamily="34" charset="-120"/>
              </a:rPr>
              <a:t>СТОЇЦИЗМ · ПРАКТИКА СВОБОДИ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63578" y="1794669"/>
            <a:ext cx="700893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spc="-23" kern="0" dirty="0">
                <a:solidFill>
                  <a:srgbClr val="1C141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Стоїки вчать розрізняти контроль і долю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63578" y="3078659"/>
            <a:ext cx="8101107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Діяти гідно в межах можливого.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3578" y="3536255"/>
            <a:ext cx="13376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spc="3" kern="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55086" y="3512145"/>
            <a:ext cx="1703345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Зенон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55086" y="3930352"/>
            <a:ext cx="1703345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Доброчесність — єдине благо.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320372" y="3536255"/>
            <a:ext cx="135271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spc="3" kern="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727059" y="3512145"/>
            <a:ext cx="1688363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Сенека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727059" y="3930352"/>
            <a:ext cx="1688363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Свобода через самовладання.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777462" y="3536255"/>
            <a:ext cx="135043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spc="3" kern="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181769" y="3512145"/>
            <a:ext cx="1713862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Марк Аврелій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181769" y="3930352"/>
            <a:ext cx="1747695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Прийняти порядок світу.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63578" y="4809927"/>
            <a:ext cx="7066083" cy="31552"/>
          </a:xfrm>
          <a:prstGeom prst="roundRect">
            <a:avLst>
              <a:gd name="adj" fmla="val 49998"/>
            </a:avLst>
          </a:prstGeom>
          <a:solidFill>
            <a:srgbClr val="B08440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63578" y="5084663"/>
            <a:ext cx="810110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spc="19" kern="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Не події, а судження ранять нас.</a:t>
            </a:r>
            <a:endParaRPr lang="en-US" sz="12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250" y="304800"/>
            <a:ext cx="3474454" cy="6248499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405900" y="304800"/>
            <a:ext cx="12700" cy="6248499"/>
          </a:xfrm>
          <a:prstGeom prst="rect">
            <a:avLst/>
          </a:prstGeom>
          <a:solidFill>
            <a:srgbClr val="B08440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5975" y="914400"/>
            <a:ext cx="11175720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spc="131" kern="0" dirty="0">
                <a:solidFill>
                  <a:srgbClr val="1C1410"/>
                </a:solidFill>
                <a:latin typeface="Cormorant Garamond Bold" pitchFamily="34" charset="0"/>
                <a:ea typeface="Cormorant Garamond Bold" pitchFamily="34" charset="-122"/>
                <a:cs typeface="Cormorant Garamond Bold" pitchFamily="34" charset="-120"/>
              </a:rPr>
              <a:t>ЕПІКУРЕЇЗМ · СКЕПТИЦИЗМ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1015975" y="1219200"/>
            <a:ext cx="10712182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spc="-23" kern="0" dirty="0">
                <a:solidFill>
                  <a:srgbClr val="1C141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Спокій — у міри та сумніву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015975" y="1917700"/>
            <a:ext cx="1117572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Дві школи шукають свободу від тривоги.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015975" y="2463800"/>
            <a:ext cx="4825879" cy="2717800"/>
          </a:xfrm>
          <a:prstGeom prst="roundRect">
            <a:avLst>
              <a:gd name="adj" fmla="val 505"/>
            </a:avLst>
          </a:prstGeom>
          <a:noFill/>
          <a:ln w="25399">
            <a:solidFill>
              <a:srgbClr val="D7D0BB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349841" y="2463800"/>
            <a:ext cx="4825879" cy="2717800"/>
          </a:xfrm>
          <a:prstGeom prst="roundRect">
            <a:avLst>
              <a:gd name="adj" fmla="val 505"/>
            </a:avLst>
          </a:prstGeom>
          <a:noFill/>
          <a:ln w="25399">
            <a:solidFill>
              <a:srgbClr val="D7D0B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20767" y="2743200"/>
            <a:ext cx="4159146" cy="34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Епікуреїзм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320767" y="3251200"/>
            <a:ext cx="4768731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Епікур — спільнота Саду.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320767" y="3670300"/>
            <a:ext cx="4768731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Атараксія — душевний спокій.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320767" y="4089400"/>
            <a:ext cx="4768731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Прості бажання — менше тривоги.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654634" y="2743200"/>
            <a:ext cx="4159146" cy="34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Скептицизм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654634" y="3251200"/>
            <a:ext cx="4768731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Піррон — утримання від судження.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54634" y="3670300"/>
            <a:ext cx="4768731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Епохе — сумнів у певності.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654634" y="4089400"/>
            <a:ext cx="4768731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Незворушність перед невідомим.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1015975" y="5486400"/>
            <a:ext cx="10159746" cy="31552"/>
          </a:xfrm>
          <a:prstGeom prst="roundRect">
            <a:avLst>
              <a:gd name="adj" fmla="val 49998"/>
            </a:avLst>
          </a:prstGeom>
          <a:solidFill>
            <a:srgbClr val="B08440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015975" y="5702300"/>
            <a:ext cx="10712182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i="1" spc="19" kern="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«Утримання від судження — шлях до спокою.»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5975" y="914400"/>
            <a:ext cx="11175720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spc="131" kern="0" dirty="0">
                <a:solidFill>
                  <a:srgbClr val="1C1410"/>
                </a:solidFill>
                <a:latin typeface="Cormorant Garamond Bold" pitchFamily="34" charset="0"/>
                <a:ea typeface="Cormorant Garamond Bold" pitchFamily="34" charset="-122"/>
                <a:cs typeface="Cormorant Garamond Bold" pitchFamily="34" charset="-120"/>
              </a:rPr>
              <a:t>ВІД КОСМОСУ ДО ЛЮДИНИ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1015975" y="1219200"/>
            <a:ext cx="10712182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spc="-23" kern="0" dirty="0">
                <a:solidFill>
                  <a:srgbClr val="1C1410"/>
                </a:solidFill>
                <a:latin typeface="Cormorant Bold" pitchFamily="34" charset="0"/>
                <a:ea typeface="Cormorant Bold" pitchFamily="34" charset="-122"/>
                <a:cs typeface="Cormorant Bold" pitchFamily="34" charset="-120"/>
              </a:rPr>
              <a:t>Спадщина Античності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015975" y="1917700"/>
            <a:ext cx="1117572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Античні запитання досі формують спільний світ.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015975" y="2679700"/>
            <a:ext cx="2311342" cy="2108200"/>
          </a:xfrm>
          <a:prstGeom prst="roundRect">
            <a:avLst>
              <a:gd name="adj" fmla="val 651"/>
            </a:avLst>
          </a:prstGeom>
          <a:noFill/>
          <a:ln w="25399">
            <a:solidFill>
              <a:srgbClr val="D7D0BB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3632109" y="2679700"/>
            <a:ext cx="2311342" cy="2108200"/>
          </a:xfrm>
          <a:prstGeom prst="roundRect">
            <a:avLst>
              <a:gd name="adj" fmla="val 651"/>
            </a:avLst>
          </a:prstGeom>
          <a:noFill/>
          <a:ln w="25399">
            <a:solidFill>
              <a:srgbClr val="D7D0BB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248244" y="2679700"/>
            <a:ext cx="2311342" cy="2108200"/>
          </a:xfrm>
          <a:prstGeom prst="roundRect">
            <a:avLst>
              <a:gd name="adj" fmla="val 651"/>
            </a:avLst>
          </a:prstGeom>
          <a:noFill/>
          <a:ln w="25399">
            <a:solidFill>
              <a:srgbClr val="D7D0BB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8864378" y="2679700"/>
            <a:ext cx="2311342" cy="2108200"/>
          </a:xfrm>
          <a:prstGeom prst="roundRect">
            <a:avLst>
              <a:gd name="adj" fmla="val 651"/>
            </a:avLst>
          </a:prstGeom>
          <a:noFill/>
          <a:ln w="25399">
            <a:solidFill>
              <a:srgbClr val="D7D0B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269968" y="2921000"/>
            <a:ext cx="1746206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0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Наука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269968" y="3454400"/>
            <a:ext cx="174620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Спостереження, доказ і логіка.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886103" y="2921000"/>
            <a:ext cx="1746206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0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Право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86103" y="3454400"/>
            <a:ext cx="174620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Закон, аргумент, громадянство.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02237" y="2921000"/>
            <a:ext cx="1746206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0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Етика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6502237" y="3454400"/>
            <a:ext cx="174620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Чеснота, вибір, відповідальність.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118372" y="2921000"/>
            <a:ext cx="1746206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00" dirty="0">
                <a:solidFill>
                  <a:srgbClr val="74282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Гуманізм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9118372" y="3454400"/>
            <a:ext cx="174620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spc="3" kern="0" dirty="0">
                <a:solidFill>
                  <a:srgbClr val="1C1410"/>
                </a:solidFill>
                <a:latin typeface="Cormorant Garamond Medium" pitchFamily="34" charset="0"/>
                <a:ea typeface="Cormorant Garamond Medium" pitchFamily="34" charset="-122"/>
                <a:cs typeface="Cormorant Garamond Medium" pitchFamily="34" charset="-120"/>
              </a:rPr>
              <a:t>Гідність людини й сила розуму.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15975" y="5257800"/>
            <a:ext cx="10159746" cy="31552"/>
          </a:xfrm>
          <a:prstGeom prst="roundRect">
            <a:avLst>
              <a:gd name="adj" fmla="val 49998"/>
            </a:avLst>
          </a:prstGeom>
          <a:solidFill>
            <a:srgbClr val="B08440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015975" y="5524500"/>
            <a:ext cx="10712182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i="1" spc="19" kern="0" dirty="0">
                <a:solidFill>
                  <a:srgbClr val="1C141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-120"/>
              </a:rPr>
              <a:t>Від запитання про космос — до відповідальності людини.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2026-09-27T11:56:22Z</dcterms:created>
  <dcterms:modified xsi:type="dcterms:W3CDTF">2026-09-27T11:56:22Z</dcterms:modified>
</cp:coreProperties>
</file>