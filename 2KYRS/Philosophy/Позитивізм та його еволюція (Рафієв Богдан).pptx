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695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5752" cy="68580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23304"/>
            <a:ext cx="807064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ІСТОРІЯ ФІЛОСОФІЇ · ФІЛОСОФІЯ НАУКИ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22284" y="1023144"/>
            <a:ext cx="3454314" cy="12502"/>
          </a:xfrm>
          <a:prstGeom prst="roundRect">
            <a:avLst>
              <a:gd name="adj" fmla="val 49997"/>
            </a:avLst>
          </a:prstGeom>
          <a:solidFill>
            <a:srgbClr val="141414"/>
          </a:solidFill>
          <a:ln/>
        </p:spPr>
      </p:sp>
      <p:sp>
        <p:nvSpPr>
          <p:cNvPr id="5" name="Text 2"/>
          <p:cNvSpPr/>
          <p:nvPr/>
        </p:nvSpPr>
        <p:spPr>
          <a:xfrm>
            <a:off x="609585" y="4380999"/>
            <a:ext cx="6908627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28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ПОЗИТИВІЗМ</a:t>
            </a:r>
            <a:endParaRPr lang="en-US" sz="48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4800" spc="28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ТА ЙОГО ЕВОЛЮЦІЯ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585" y="5940941"/>
            <a:ext cx="807064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Факти, досвід, мова та межі наукового знання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304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ІНТЕЛЕКТУАЛЬНА ТРАЄКТОРІЯ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4997"/>
            <a:ext cx="1099852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ПОЗИТИВІЗМ: ВІД КОНТА ДО ПОСТПОЗИТИВІЗМУ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2284" y="1556544"/>
            <a:ext cx="10946928" cy="12502"/>
          </a:xfrm>
          <a:prstGeom prst="roundRect">
            <a:avLst>
              <a:gd name="adj" fmla="val 49997"/>
            </a:avLst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2078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Орієнтир на науку як єдине джерело достовірного знання.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4094163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2727852" y="3738562"/>
            <a:ext cx="19050" cy="3556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2670703" y="4027488"/>
            <a:ext cx="133347" cy="13335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482588" y="2972554"/>
            <a:ext cx="450947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96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588" y="3309977"/>
            <a:ext cx="450947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Факти та наукові закони.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66667" y="4094163"/>
            <a:ext cx="19050" cy="3556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9519" y="4027488"/>
            <a:ext cx="133347" cy="13335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2721403" y="4647565"/>
            <a:ext cx="450957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96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МАХ І АВЕНАРІУС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21502" y="4985087"/>
            <a:ext cx="450957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Досвід і відчуття.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05581" y="3738562"/>
            <a:ext cx="19050" cy="3556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148433" y="4027488"/>
            <a:ext cx="133347" cy="13335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4960317" y="2972554"/>
            <a:ext cx="450957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96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ВІДЕНСЬКИЙ ГУРТОК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60317" y="3309977"/>
            <a:ext cx="450957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Логіка й мова науки.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44694" y="4094163"/>
            <a:ext cx="19050" cy="3556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9387546" y="4027488"/>
            <a:ext cx="133347" cy="13335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7199232" y="4647565"/>
            <a:ext cx="450957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96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ПОППЕР І КУН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99430" y="4985087"/>
            <a:ext cx="450957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Критика та розвиток науки.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9585" y="6080355"/>
            <a:ext cx="11582110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Чотири етапи. Критика метафізики як спільна лінія; постпозитивізм переглядає вихідні засади.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932741" y="6464697"/>
            <a:ext cx="25895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15950"/>
            <a:ext cx="7181670" cy="3479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622459"/>
            <a:ext cx="6705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ПЕРШИЙ ПОЗИТИВІЗМ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585" y="899456"/>
            <a:ext cx="6705432" cy="838200"/>
          </a:xfrm>
          <a:prstGeom prst="rect">
            <a:avLst/>
          </a:prstGeom>
          <a:noFill/>
          <a:ln/>
        </p:spPr>
        <p:txBody>
          <a:bodyPr wrap="square" lIns="0" tIns="0" rIns="609585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ПЕРШИЙ ПОЗИТИВІЗМ: ОҐЮСТ КОНТ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09585" y="2419615"/>
            <a:ext cx="60958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«Курс позитивної філософії»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1830–1842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585" y="3209131"/>
            <a:ext cx="609584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Філософія спирається на факти та наукові закони.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Відмова від метафізичних пошуків «сутностей».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Соціологія як вершина системи наук.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9585" y="5941139"/>
            <a:ext cx="718167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Завдання науки: встановлювати закономірності явищ.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167" y="1192510"/>
            <a:ext cx="3142973" cy="41907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3181" y="5496651"/>
            <a:ext cx="3500945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Спостереження й систематизація фактів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933336" y="6463308"/>
            <a:ext cx="25826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304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ОҐЮСТ КОНТ · МОДЕЛЬ РОЗВИТКУ ЗНАННЯ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4997"/>
            <a:ext cx="1091537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ЗАКОН ТРЬОХ СТАДІЙ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2284" y="1556544"/>
            <a:ext cx="10946928" cy="12502"/>
          </a:xfrm>
          <a:prstGeom prst="roundRect">
            <a:avLst>
              <a:gd name="adj" fmla="val 49997"/>
            </a:avLst>
          </a:prstGeom>
          <a:solidFill>
            <a:srgbClr val="14141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33" y="2497931"/>
            <a:ext cx="3441614" cy="28032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2428081"/>
            <a:ext cx="3454314" cy="2816027"/>
          </a:xfrm>
          <a:prstGeom prst="rect">
            <a:avLst/>
          </a:prstGeom>
          <a:solidFill>
            <a:srgbClr val="FFFFFF"/>
          </a:solidFill>
          <a:ln w="6350">
            <a:solidFill>
              <a:srgbClr val="14141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0727" y="2739231"/>
            <a:ext cx="400040" cy="400050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3452" y="2858294"/>
            <a:ext cx="141621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15935" y="3210520"/>
            <a:ext cx="3441415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7"/>
          <p:cNvSpPr/>
          <p:nvPr/>
        </p:nvSpPr>
        <p:spPr>
          <a:xfrm>
            <a:off x="920727" y="3357331"/>
            <a:ext cx="27748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Теологічна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20727" y="3787894"/>
            <a:ext cx="277488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Пояснення волею надприродних сил.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20727" y="4576298"/>
            <a:ext cx="3695608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Джерело пояснення поза природою.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539" y="2497931"/>
            <a:ext cx="3441614" cy="280322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68691" y="2428081"/>
            <a:ext cx="3454314" cy="2816027"/>
          </a:xfrm>
          <a:prstGeom prst="rect">
            <a:avLst/>
          </a:prstGeom>
          <a:solidFill>
            <a:srgbClr val="FFFFFF"/>
          </a:solidFill>
          <a:ln w="6350">
            <a:solidFill>
              <a:srgbClr val="14141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79833" y="2739231"/>
            <a:ext cx="400040" cy="400050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52558" y="2858294"/>
            <a:ext cx="141621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4375041" y="3210520"/>
            <a:ext cx="3441415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8" name="Text 14"/>
          <p:cNvSpPr/>
          <p:nvPr/>
        </p:nvSpPr>
        <p:spPr>
          <a:xfrm>
            <a:off x="4679833" y="3357331"/>
            <a:ext cx="27748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Метафізична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679833" y="3787894"/>
            <a:ext cx="277488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Абстрактні сутності та причини.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679833" y="4555363"/>
            <a:ext cx="2774881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Явища пояснюються прихованими основами.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645" y="2497931"/>
            <a:ext cx="3441614" cy="280322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127797" y="2428081"/>
            <a:ext cx="3454314" cy="2816027"/>
          </a:xfrm>
          <a:prstGeom prst="rect">
            <a:avLst/>
          </a:prstGeom>
          <a:solidFill>
            <a:srgbClr val="FFFFFF"/>
          </a:solidFill>
          <a:ln w="6350">
            <a:solidFill>
              <a:srgbClr val="14141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438939" y="2739231"/>
            <a:ext cx="400040" cy="400050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11664" y="2858294"/>
            <a:ext cx="141621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1750" dirty="0"/>
          </a:p>
        </p:txBody>
      </p:sp>
      <p:sp>
        <p:nvSpPr>
          <p:cNvPr id="25" name="Shape 20"/>
          <p:cNvSpPr/>
          <p:nvPr/>
        </p:nvSpPr>
        <p:spPr>
          <a:xfrm>
            <a:off x="8134147" y="3210520"/>
            <a:ext cx="3441415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6" name="Text 21"/>
          <p:cNvSpPr/>
          <p:nvPr/>
        </p:nvSpPr>
        <p:spPr>
          <a:xfrm>
            <a:off x="8438939" y="3357331"/>
            <a:ext cx="27748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Позитивна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8438939" y="3787894"/>
            <a:ext cx="277488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Закони, виведені зі спостережень.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438939" y="4576298"/>
            <a:ext cx="3695608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 центрі уваги зв’язки між явищами.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09585" y="6080355"/>
            <a:ext cx="11582110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 Конта це послідовність розвитку людського мислення, а не перелік рівнозначних підходів.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11932741" y="6464697"/>
            <a:ext cx="25895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280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ДРУГИЙ ПОЗИТИВІЗМ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4501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ЕМПІРІОКРИТИЦИЗМ: ДРУГИЙ ПОЗИТИВІЗМ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829236"/>
            <a:ext cx="1158211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Кінець XIX ст.: відповідь на кризу класичної фізики.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276773"/>
            <a:ext cx="5333867" cy="3580209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476" y="3265256"/>
            <a:ext cx="4984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Ернст Мах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52476" y="3755033"/>
            <a:ext cx="1525152" cy="19050"/>
          </a:xfrm>
          <a:prstGeom prst="roundRect">
            <a:avLst>
              <a:gd name="adj" fmla="val 49999"/>
            </a:avLst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952476" y="3950712"/>
            <a:ext cx="499097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Наука як «економія мислення».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52476" y="4382333"/>
            <a:ext cx="464808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Світ як комплекс відчуттів. Наукові поняття впорядковують досвід.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8244" y="2276773"/>
            <a:ext cx="5333867" cy="3580209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1135" y="3265256"/>
            <a:ext cx="4984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Ріхард Авенаріус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91135" y="3755033"/>
            <a:ext cx="1525152" cy="19050"/>
          </a:xfrm>
          <a:prstGeom prst="roundRect">
            <a:avLst>
              <a:gd name="adj" fmla="val 49999"/>
            </a:avLst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6591135" y="3950712"/>
            <a:ext cx="499097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Принцип «чистого досвіду».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91135" y="4382333"/>
            <a:ext cx="464808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Очищення від метафізики: усунення припущень, що виходять за межі досвіду.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9585" y="6081744"/>
            <a:ext cx="11582110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Критика: суб'єктивізм і ризик соліпсизму.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932542" y="6465391"/>
            <a:ext cx="25915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01" y="1065510"/>
            <a:ext cx="3333270" cy="444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87013" y="5622461"/>
            <a:ext cx="2702155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Відень · 1920–30-ті рр.</a:t>
            </a:r>
            <a:endParaRPr lang="en-US" sz="1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756" y="615950"/>
            <a:ext cx="6691939" cy="3175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99756" y="622459"/>
            <a:ext cx="66919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ЛОГІЧНИЙ ПОЗИТИВІЗМ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499756" y="899456"/>
            <a:ext cx="6691939" cy="838200"/>
          </a:xfrm>
          <a:prstGeom prst="rect">
            <a:avLst/>
          </a:prstGeom>
          <a:noFill/>
          <a:ln/>
        </p:spPr>
        <p:txBody>
          <a:bodyPr wrap="square" lIns="0" tIns="0" rIns="609585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НЕОПОЗИТИВІЗМ: ВІДЕНСЬКИЙ ГУРТОК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499756" y="2475574"/>
            <a:ext cx="60823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М. Шлік · Р. Карнап · О. Нейрат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99756" y="2904331"/>
            <a:ext cx="608235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Логічний аналіз мови науки.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Програма «єдиної науки».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Усунення метафізики через аналіз значення висловлювань.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99756" y="5489344"/>
            <a:ext cx="60823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Маніфест 1929 р.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499756" y="5939849"/>
            <a:ext cx="669193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«Наукове світорозуміння»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1933336" y="6463109"/>
            <a:ext cx="25835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304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КРИТЕРІЙ ОСМИСЛЕНОСТІ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4997"/>
            <a:ext cx="1091537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ПРИНЦИП ВЕРИФІКАЦІЇ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2284" y="1556544"/>
            <a:ext cx="10946928" cy="12502"/>
          </a:xfrm>
          <a:prstGeom prst="roundRect">
            <a:avLst>
              <a:gd name="adj" fmla="val 49997"/>
            </a:avLst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2078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Зміст речення визначається способом його перевірки.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331641"/>
            <a:ext cx="5333867" cy="3525044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126" y="3466670"/>
            <a:ext cx="46036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Осмислені висловлювання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6126" y="3895427"/>
            <a:ext cx="4660783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Емпіричні твердження, перевірювані досвідом.</a:t>
            </a:r>
            <a:endParaRPr lang="en-US" sz="1400" dirty="0"/>
          </a:p>
          <a:p>
            <a:pPr algn="l" marL="284480" indent="-284480">
              <a:lnSpc>
                <a:spcPct val="121000"/>
              </a:lnSpc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Аналітичні істини, істинні завдяки значенню термінів.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244" y="2331641"/>
            <a:ext cx="5333867" cy="35250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78435" y="3244420"/>
            <a:ext cx="46163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Поза критерієм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78435" y="3674884"/>
            <a:ext cx="461633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Метафізика, етика, теологія: «псевдопроблеми».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78435" y="4446627"/>
            <a:ext cx="461633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Так їх оцінює радикальна версія програми неопозитивізму.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9585" y="6080355"/>
            <a:ext cx="11582110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Проблема: сам принцип не верифікується.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932741" y="6464697"/>
            <a:ext cx="25895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304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МОВА ЯК ПРЕДМЕТ ФІЛОСОФІЇ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4997"/>
            <a:ext cx="1091537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ЛЮДВІГ ВІТГЕНШТАЙН І ПОВОРОТ ДО МОВИ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2284" y="1556544"/>
            <a:ext cx="10946928" cy="12502"/>
          </a:xfrm>
          <a:prstGeom prst="roundRect">
            <a:avLst>
              <a:gd name="adj" fmla="val 49997"/>
            </a:avLst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2837668"/>
            <a:ext cx="5784705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РАННІЙ ВІТГЕНШТАЙН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3578" y="3104720"/>
            <a:ext cx="49211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Логічна картина фактів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3578" y="3533477"/>
            <a:ext cx="4978275" cy="900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«Логіко-філософський трактат» (1921): межі мови — межі світу.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Мова як логічна картина фактів.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3578" y="4610727"/>
            <a:ext cx="5784705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Вплив на Віденський гурток.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841" y="2837668"/>
            <a:ext cx="5784705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ПІЗНІЙ ВІТГЕНШТАЙН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841" y="3104720"/>
            <a:ext cx="49211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Значення як вживання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49841" y="3533477"/>
            <a:ext cx="4978275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«Мовні ігри» пов’язують висловлювання з практиками та контекстами.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Філософський аналіз звертається до того, як мова працює.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49841" y="4868597"/>
            <a:ext cx="5784705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логічної форми до мовної практики.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498" y="2569964"/>
            <a:ext cx="12700" cy="2720677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11932741" y="6464697"/>
            <a:ext cx="25895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280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МЕЖІ ЛОГІЧНОГО ПОЗИТИВІЗМУ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4501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КРИЗА НЕОПОЗИТИВІЗМУ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555651"/>
            <a:ext cx="10972526" cy="127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35415"/>
            <a:ext cx="109725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Універсальні закони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3275013"/>
            <a:ext cx="10972526" cy="127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277507"/>
            <a:ext cx="1097252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Критика верифікації: універсальні закони неверифіковані. Скінченна кількість спостережень не доводить загального твердження.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3455955"/>
            <a:ext cx="109725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Квайн · 1951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3915906"/>
            <a:ext cx="1158211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«Дві догми емпіризму»: критика поділу істин на аналітичні й синтетичні та редукції знання до окремих спостережень.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" y="4818625"/>
            <a:ext cx="109726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Спостереження і теорія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585" y="5278576"/>
            <a:ext cx="1117453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Теза про навантаженість спостережень теорією: факти інтерпретуються через поняття й припущення.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5" y="6080653"/>
            <a:ext cx="11582110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4A4A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Перехід до постпозитивізму.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932542" y="6463010"/>
            <a:ext cx="25915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304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КРИТИЧНИЙ РАЦІОНАЛІЗМ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4997"/>
            <a:ext cx="1091537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КАРЛ ПОППЕР: ФАЛЬСИФІКАЦІЯ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2284" y="1556544"/>
            <a:ext cx="10946928" cy="12502"/>
          </a:xfrm>
          <a:prstGeom prst="roundRect">
            <a:avLst>
              <a:gd name="adj" fmla="val 49997"/>
            </a:avLst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2078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Критерій демаркації: наукова теорія принципово спростовна.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832199"/>
            <a:ext cx="400040" cy="400050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310" y="2951262"/>
            <a:ext cx="141621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09585" y="3303488"/>
            <a:ext cx="3454314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3450299"/>
            <a:ext cx="33971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Гіпотеза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3909854"/>
            <a:ext cx="421956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Гіпотези як сміливі припущення.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8691" y="2832199"/>
            <a:ext cx="400040" cy="400050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1416" y="2951262"/>
            <a:ext cx="141621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4368691" y="3303488"/>
            <a:ext cx="3454314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4368691" y="3450299"/>
            <a:ext cx="33971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Перевірка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68691" y="3892986"/>
            <a:ext cx="339716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Пошук фактів, здатних спростувати передбачення.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7797" y="2832199"/>
            <a:ext cx="400040" cy="400050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0522" y="2951262"/>
            <a:ext cx="141621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8127797" y="3303488"/>
            <a:ext cx="3454314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9" name="Text 17"/>
          <p:cNvSpPr/>
          <p:nvPr/>
        </p:nvSpPr>
        <p:spPr>
          <a:xfrm>
            <a:off x="8127797" y="3450299"/>
            <a:ext cx="33971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Перегляд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27797" y="3892986"/>
            <a:ext cx="339716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Критичний раціоналізм: знання зростає через спростування.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33" y="5185073"/>
            <a:ext cx="10959627" cy="1120577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9585" y="5115223"/>
            <a:ext cx="10972526" cy="1133277"/>
          </a:xfrm>
          <a:prstGeom prst="rect">
            <a:avLst/>
          </a:prstGeom>
          <a:solidFill>
            <a:srgbClr val="FFFFFF"/>
          </a:solidFill>
          <a:ln w="6350">
            <a:solidFill>
              <a:srgbClr val="14141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727" y="5390118"/>
            <a:ext cx="1090267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Приклади: фізика Ейнштейна проти псевдонауки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20727" y="5769808"/>
            <a:ext cx="1127096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Наукова теорія допускає ризик невдалої перевірки; пояснення, сумісне з будь-яким результатом, уникає спростування.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851582" y="6464697"/>
            <a:ext cx="34011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0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33" y="622955"/>
            <a:ext cx="1152496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ІСТОРИЧНИЙ ПОВОРОТ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4997"/>
            <a:ext cx="1091537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ТОМАС КУН: НАУКОВІ РЕВОЛЮЦІЇ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2284" y="1556544"/>
            <a:ext cx="10946928" cy="12502"/>
          </a:xfrm>
          <a:prstGeom prst="roundRect">
            <a:avLst>
              <a:gd name="adj" fmla="val 49997"/>
            </a:avLst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2078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Структура наукових революцій (1962).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832199"/>
            <a:ext cx="3454314" cy="334963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83" y="2843709"/>
            <a:ext cx="3936902" cy="322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09585" y="3303488"/>
            <a:ext cx="3454314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3450299"/>
            <a:ext cx="33971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Парадигма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3892986"/>
            <a:ext cx="339716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Нормальна наука, аномалії, криза, революція.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8691" y="2832199"/>
            <a:ext cx="3454314" cy="334963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2189" y="2843709"/>
            <a:ext cx="3936902" cy="322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4368691" y="3303488"/>
            <a:ext cx="3454314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4368691" y="3450299"/>
            <a:ext cx="33971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Неспівмірність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68691" y="3892986"/>
            <a:ext cx="339716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Неспівмірність парадигм: різні школи бачать світ і поняття по-різному.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7797" y="2832199"/>
            <a:ext cx="3454314" cy="334963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1295" y="2843709"/>
            <a:ext cx="3936902" cy="322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8127797" y="3303488"/>
            <a:ext cx="3454314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9" name="Text 17"/>
          <p:cNvSpPr/>
          <p:nvPr/>
        </p:nvSpPr>
        <p:spPr>
          <a:xfrm>
            <a:off x="8127797" y="3450299"/>
            <a:ext cx="33971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Історичність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27797" y="3892986"/>
            <a:ext cx="339716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Наука як історично й соціально зумовлена діяльність.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83708" y="5970588"/>
            <a:ext cx="50798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33" y="622955"/>
            <a:ext cx="252723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11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ВИСНОВКИ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4997"/>
            <a:ext cx="1091537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180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ПІДСУМКИ: ЛОГІКА ЕВОЛЮЦІЇ ПОЗИТИВІЗМУ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2284" y="1556544"/>
            <a:ext cx="10946928" cy="12502"/>
          </a:xfrm>
          <a:prstGeom prst="roundRect">
            <a:avLst>
              <a:gd name="adj" fmla="val 49997"/>
            </a:avLst>
          </a:prstGeom>
          <a:solidFill>
            <a:srgbClr val="141414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832199"/>
            <a:ext cx="3454314" cy="334963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083" y="2843709"/>
            <a:ext cx="3936902" cy="322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09585" y="3303488"/>
            <a:ext cx="3454314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450299"/>
            <a:ext cx="33971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Від прогресу до історії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3892986"/>
            <a:ext cx="339716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віри в кумулятивний прогрес до історичної моделі науки.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8691" y="2832199"/>
            <a:ext cx="3454314" cy="334963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2189" y="2843709"/>
            <a:ext cx="3936902" cy="322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368691" y="3303488"/>
            <a:ext cx="3454314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4368691" y="3450299"/>
            <a:ext cx="33971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Від досвіду до мови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68691" y="3892986"/>
            <a:ext cx="339716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досвіду до мови, від верифікації до фальсифікації.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7797" y="2832199"/>
            <a:ext cx="3454314" cy="334963"/>
          </a:xfrm>
          <a:prstGeom prst="rect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1295" y="2843709"/>
            <a:ext cx="3936902" cy="322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5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127797" y="3303488"/>
            <a:ext cx="3454314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7797" y="3450299"/>
            <a:ext cx="33971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Спадщина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7797" y="3892986"/>
            <a:ext cx="339716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Стандарти раціональності та критика метафізики.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56711" y="5970588"/>
            <a:ext cx="63498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spc="78" kern="100" dirty="0">
                <a:solidFill>
                  <a:srgbClr val="1414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1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2026-10-13T17:10:23Z</dcterms:created>
  <dcterms:modified xsi:type="dcterms:W3CDTF">2026-10-13T17:10:23Z</dcterms:modified>
</cp:coreProperties>
</file>