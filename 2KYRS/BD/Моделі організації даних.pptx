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258121"/>
            <a:ext cx="9048750" cy="904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736" y="4458146"/>
            <a:ext cx="2725638" cy="704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14750" y="1695003"/>
            <a:ext cx="476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 Medium"/>
              </a:rPr>
              <a:t>КАФЕДРА АВТОМАТИЗАЦІЇ ТА ІНФОРМАЦІЙНИХ СИСТЕМ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4750" y="1961703"/>
            <a:ext cx="47625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306" y="2161728"/>
            <a:ext cx="424338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1998" y="2618928"/>
            <a:ext cx="6587854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Poppins"/>
              </a:rPr>
              <a:t>Моделі організації даних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3353246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Еволюція, принципи побудови та порівняльний аналіз класичних і сучасних парадигм збереження інформації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2861" y="4581971"/>
            <a:ext cx="224938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94A3B8"/>
                </a:solidFill>
                <a:latin typeface="Inter"/>
              </a:rPr>
              <a:t>Виконав: Студент групи КН-25-1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2861" y="4781996"/>
            <a:ext cx="224938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0" i="0" u="none">
                <a:solidFill>
                  <a:srgbClr val="38BDF8"/>
                </a:solidFill>
                <a:latin typeface="Poppins SemiBold"/>
              </a:rPr>
              <a:t>Рафієв Богдан Самедович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2364" y="2757487"/>
            <a:ext cx="566727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Поняття моделі даних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43312"/>
            <a:ext cx="71437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Модель даних визначає логічну структуру баз даних та регламентує допустимі операції над об'єктами й принципи підтримки цілісності інформації.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55056"/>
            <a:ext cx="3486150" cy="2976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55056"/>
            <a:ext cx="3486150" cy="29765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55056"/>
            <a:ext cx="3486150" cy="29765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650331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374231"/>
            <a:ext cx="237685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Poppins SemiBold"/>
              </a:rPr>
              <a:t>Структурна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21906"/>
            <a:ext cx="28956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Визначає правила формування та типи допустимих структур даних (таблиці, дерева, графи або документи) для опису предметної області.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650331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374231"/>
            <a:ext cx="281707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Poppins SemiBold"/>
              </a:rPr>
              <a:t>Маніпулятивна частина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821906"/>
            <a:ext cx="28956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Задає набір допустимих дій та операцій для пошуку, оновлення, додавання й вилучення даних у структурі баз даних.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650331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374231"/>
            <a:ext cx="260329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Poppins SemiBold"/>
              </a:rPr>
              <a:t>Обмеження цілісності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821906"/>
            <a:ext cx="28956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Встановлює коректність та логічну несуперечливість стану даних у процесі тривалого збереження та виконання транзакцій.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783681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2783681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3450" y="2783681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Три складові моделі даних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3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5590698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Ієрархічна модель даних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38125"/>
            <a:ext cx="5600700" cy="638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728317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Poppins SemiBold"/>
              </a:rPr>
              <a:t>Деревоподібна структура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175992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Організована у вигляді орієнтованого графа (дерева), де існує один кореневий вузол, а кожен дочірній елемент має чітко один батьківський запис.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067175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Модель гарантує високу швидкість доступу при запитах "зверху-вниз", проте має обмежену гнучкість при спробах відображення складних взаємозв'язків типу "багато-до-багатьох".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33675"/>
            <a:ext cx="5324475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33675"/>
            <a:ext cx="5324475" cy="2219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76575"/>
            <a:ext cx="487060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Гнучкість зв'язків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24250"/>
            <a:ext cx="463867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Мережева модель є узагальненням ієрархічної. Вона дозволяє дочірньому запису мати декілька батьківських елементів, природно реалізуючи зв'язки "багато-до-багатьох".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76575"/>
            <a:ext cx="487060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Особливості навігації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24250"/>
            <a:ext cx="463867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Доступ до даних здійснюється за допомогою фізичних вказівників. Модель забезпечує високу обчислювальну ефективність, проте вимагає складного проєктування схеми БД.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Мережева модель даних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3587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33587"/>
            <a:ext cx="5324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Запропонована Едгаром Коддом у 1970 році. Модель базується на математичній теорії множин та реляційній алгебрі.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43112"/>
            <a:ext cx="5305425" cy="36004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1025" y="2662237"/>
            <a:ext cx="5324475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525" y="2852737"/>
            <a:ext cx="452437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Двовимірні таблиці: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Дані зберігаються у відносинах (рядки — записи, стовпці — атрибути).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3700462"/>
            <a:ext cx="5324475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525" y="3890962"/>
            <a:ext cx="452437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Первинні та зовнішні ключі: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Зв'язки встановлюються за допомогою значення даних, а не вказівників.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3538537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576762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876550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914775"/>
            <a:ext cx="2095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Реляційна модель даних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2762"/>
            <a:ext cx="5324475" cy="1238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386262"/>
            <a:ext cx="5324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Inter SemiBold"/>
              </a:rPr>
              <a:t>Корпоративного ринку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052762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Poppins SemiBold"/>
              </a:rPr>
              <a:t>Стандарт надійності та цілісності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500437"/>
            <a:ext cx="532447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Inter"/>
              </a:rPr>
              <a:t>Реляційні системи (PostgreSQL, Oracle, MySQL, SQL Server) залишаються основними сховищами даних завдяки строгому дотриманню вимог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ACID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(Atomicity, Consistency, Isolation, Durability) та декларативній мові запитів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SQL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Домінування реляційних СУБД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438400"/>
          <a:ext cx="11010898" cy="280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1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Характеристика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Ієрархічна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Мережева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Реляційна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Базова структура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Дерево (1:N)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Граф (N:M)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Двовимірні таблиці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Тип зв'язку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Батько → Нащадок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Вказівники між вузлами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Значення ключів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Гнучкість запитів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Низька (фіксований шлях)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Середня (складна навігація)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Висока (довільні SQL запити)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Нормалізація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Відсутня (дублювання)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Часткова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Строга (1NF - 5NF)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3009900"/>
            <a:ext cx="208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79501" y="3009900"/>
            <a:ext cx="28179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97413" y="3009900"/>
            <a:ext cx="30029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0318" y="3009900"/>
            <a:ext cx="3101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550" y="3567112"/>
            <a:ext cx="208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79501" y="3567112"/>
            <a:ext cx="28179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97413" y="3567112"/>
            <a:ext cx="30029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0318" y="3567112"/>
            <a:ext cx="3101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550" y="4124325"/>
            <a:ext cx="208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79501" y="4124325"/>
            <a:ext cx="28179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97413" y="4124325"/>
            <a:ext cx="30029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0318" y="4124325"/>
            <a:ext cx="3101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4681537"/>
            <a:ext cx="20889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79501" y="4681537"/>
            <a:ext cx="28179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97413" y="4681537"/>
            <a:ext cx="30029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00318" y="4681537"/>
            <a:ext cx="31011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Порівняння класичних моделей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71625" y="2286000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43125" y="2476500"/>
            <a:ext cx="82486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Об'єктно-орієнтована модель (OODBMS):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Поєднує парадигму ООП з баз даних. Сутності зберігаються у вигляді об'єктів зі інкапсульованим станом і методами.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1625" y="3324225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3125" y="3514725"/>
            <a:ext cx="82486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Об'єктно-реляційна модель (ORDBMS):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Розширення реляційної моделі підтримкою складних типів даних, успадкуванням та користувацькими функціями (PostgreSQL).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1625" y="4362450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3125" y="4552950"/>
            <a:ext cx="82486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Багатовимірна модель (OLAP):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Організована у формі гіперкубів для аналітичної обробки та оперативної побудови бізнес-звітів у реальному часі.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625" y="3162300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1625" y="4200525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71625" y="5238750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2500312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3538537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4576762"/>
            <a:ext cx="26670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Об’єктні та гібридні моделі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0256"/>
            <a:ext cx="348615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50256"/>
            <a:ext cx="348615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50256"/>
            <a:ext cx="348615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479131"/>
            <a:ext cx="36604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Ключ-Значення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79181"/>
            <a:ext cx="34861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Найпростіша парадигма сховища (Redis, DynamoDB). Забезпечує надвисоку швидкість доступу за унікальним ключем.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925" y="4479131"/>
            <a:ext cx="36604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Документна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2925" y="4879181"/>
            <a:ext cx="34861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Зберігає дані у гнучких JSON/BSON документах (MongoDB). Відсутність суворої схеми забезпечує швидку розробку.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4825" y="4479131"/>
            <a:ext cx="36604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Графова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4825" y="4879181"/>
            <a:ext cx="34861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Оптимізована для складних зв'язків між вершинами й ребрами (Neo4j). Ідеальна для соціальних та антифрод мереж.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059781"/>
            <a:ext cx="3467100" cy="2266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2450" y="2059781"/>
            <a:ext cx="3467100" cy="2266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4350" y="2059781"/>
            <a:ext cx="3467100" cy="2266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Сучасні нереляційні NoSQL моделі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14450"/>
            <a:ext cx="11029950" cy="5057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2582" y="5727650"/>
            <a:ext cx="992683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>
                <a:solidFill>
                  <a:srgbClr val="94A3B8"/>
                </a:solidFill>
                <a:latin typeface="Inter"/>
              </a:rPr>
              <a:t>Стрімке зростання неструктурованих даних спонукає до активного впровадження мультимодельних СУБД та комбінування SQL/NoSQL рішень.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Poppins SemiBold"/>
              </a:rPr>
              <a:t>Тренди обсягів неструктурованих даних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2690812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81025" y="3462337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34528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4528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42243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2243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833687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6400" y="2840831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https://media.geeksforgeeks.org/wp-content/uploads/20250729183204856042/DBMS.webp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074193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www.geeksforgeeks.org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605212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6400" y="3612356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https://hackolade.com/help/lib/JSON%20order%20hierarchical%20schema%20view.png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3845718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hackolade.com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376737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76400" y="4383881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https://www.altexsoft.com/static/content-image/2026/2/depiction-of-a-graph-database-5c98b.png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4617243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www.altexsoft.com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90525"/>
            <a:ext cx="11581447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850" dirty="0">
                <a:solidFill>
                  <a:srgbClr val="F8FAFC"/>
                </a:solidFill>
                <a:latin typeface="Poppins SemiBold"/>
              </a:rPr>
              <a:t>Джерела зображень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606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Anonim GG</cp:lastModifiedBy>
  <cp:revision>2</cp:revision>
  <dcterms:created xsi:type="dcterms:W3CDTF">2013-01-27T09:14:16Z</dcterms:created>
  <dcterms:modified xsi:type="dcterms:W3CDTF">2026-09-13T10:33:22Z</dcterms:modified>
  <cp:category/>
</cp:coreProperties>
</file>